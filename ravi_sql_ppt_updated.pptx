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1" r:id="rId7"/>
    <p:sldId id="261" r:id="rId8"/>
    <p:sldId id="281" r:id="rId9"/>
    <p:sldId id="282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3785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SOCIAL MEDIA ANALYSIS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DCE6F1"/>
                </a:solidFill>
              </a:rPr>
              <a:t>REPORT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97D"/>
                </a:solidFill>
              </a:rPr>
              <a:t>Name: </a:t>
            </a:r>
            <a:r>
              <a:rPr lang="en-US" sz="1400" dirty="0">
                <a:solidFill>
                  <a:srgbClr val="333333"/>
                </a:solidFill>
              </a:rPr>
              <a:t>Ravi Kant Mishra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0" y="2468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97D"/>
                </a:solidFill>
              </a:rPr>
              <a:t>Tool Used: </a:t>
            </a:r>
            <a:r>
              <a:rPr lang="en-US" sz="1400" dirty="0">
                <a:solidFill>
                  <a:srgbClr val="333333"/>
                </a:solidFill>
              </a:rPr>
              <a:t>MySQL Workbench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00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97D"/>
                </a:solidFill>
              </a:rPr>
              <a:t>Database: </a:t>
            </a:r>
            <a:r>
              <a:rPr lang="en-US" sz="1400" dirty="0">
                <a:solidFill>
                  <a:srgbClr val="333333"/>
                </a:solidFill>
              </a:rPr>
              <a:t>ig_clone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0" y="3429000"/>
            <a:ext cx="4572000" cy="0"/>
          </a:xfrm>
          <a:prstGeom prst="line">
            <a:avLst/>
          </a:prstGeom>
          <a:noFill/>
          <a:ln w="12700">
            <a:solidFill>
              <a:srgbClr val="4472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88888"/>
                </a:solidFill>
              </a:rPr>
              <a:t>PRESENTED BY: RAVI KANT MISHRA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97D"/>
                </a:solidFill>
              </a:rPr>
              <a:t>Project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•  This project analyzes Instagram (ig_clone) user data to support marketing decisions at Meta.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•  The analysis focuses on user activity, engagement, and interaction patterns.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•  SQL (MySQL Workbench) is used to study posts, likes, comments, followers, and hashtags.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•  The goal is to improve user engagement, retention, and acquisition through data-driven insights.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•  The report is divided into two sections: Objective Questions (Q1–Q13) and Subjective Questions (Q1–Q10).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25400">
            <a:solidFill>
              <a:srgbClr val="DCE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</a:rPr>
              <a:t>Ravi Kant Mishra  |  MySQL Workbench  |  ig_clone Database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97D"/>
                </a:solidFill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</a:rPr>
              <a:t>1.  Problem Statement</a:t>
            </a:r>
            <a:endParaRPr lang="en-US" sz="15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</a:rPr>
              <a:t>2.  Data Description</a:t>
            </a:r>
            <a:endParaRPr lang="en-US" sz="15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</a:rPr>
              <a:t>3.  Data Schema</a:t>
            </a:r>
            <a:endParaRPr lang="en-US" sz="15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</a:rPr>
              <a:t>4.  Data Analysis &amp; Key Findings</a:t>
            </a:r>
            <a:endParaRPr lang="en-US" sz="15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</a:rPr>
              <a:t>5.  Recommendations for Inactive Users</a:t>
            </a:r>
            <a:endParaRPr lang="en-US" sz="15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</a:rPr>
              <a:t>6.  Content and Platform Optimization Strategy</a:t>
            </a:r>
            <a:endParaRPr lang="en-US" sz="15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</a:rPr>
              <a:t>7.  Business Recommendations</a:t>
            </a:r>
            <a:endParaRPr lang="en-US" sz="1500" dirty="0"/>
          </a:p>
          <a:p>
            <a:pPr marL="0" indent="0" algn="l">
              <a:spcAft>
                <a:spcPts val="800"/>
              </a:spcAft>
              <a:buNone/>
            </a:pPr>
            <a:r>
              <a:rPr lang="en-US" sz="1500" dirty="0">
                <a:solidFill>
                  <a:srgbClr val="333333"/>
                </a:solidFill>
              </a:rPr>
              <a:t>8.  Conclusion &amp; Key Takeaways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25400">
            <a:solidFill>
              <a:srgbClr val="DCE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</a:rPr>
              <a:t>Ravi Kant Mishra  |  MySQL Workbench  |  ig_clone Database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97D"/>
                </a:solidFill>
              </a:rPr>
              <a:t>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</a:rPr>
              <a:t>You are hired as a data analyst at Meta to collaborate with the Marketing team.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</a:rPr>
              <a:t>The Marketing team wants to leverage Instagram's user data to develop targeted marketing strategies that will increase user engagement, retention, and acquisition.</a:t>
            </a:r>
            <a:endParaRPr lang="en-US" sz="1400" dirty="0"/>
          </a:p>
          <a:p>
            <a:pPr marL="0" indent="0" algn="l">
              <a:buNone/>
            </a:pP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</a:rPr>
              <a:t>The objective of this project is to analyze user behavior and engagement patterns and provide actionable insights and recommendations to support data-driven marketing decisions.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25400">
            <a:solidFill>
              <a:srgbClr val="DCE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</a:rPr>
              <a:t>Ravi Kant Mishra  |  MySQL Workbench  |  ig_clone Database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97D"/>
                </a:solidFill>
              </a:rPr>
              <a:t>Data Description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</a:rPr>
              <a:t>Users: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3444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</a:rPr>
              <a:t>•  id – Unique identifier for each user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</a:rPr>
              <a:t>•  username – Username of the user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</a:rPr>
              <a:t>•  created_at – Account creation timestamp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194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</a:rPr>
              <a:t>Photos: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46888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</a:rPr>
              <a:t>•  id – Unique photo identifier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</a:rPr>
              <a:t>•  image_url – URL of uploaded photo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</a:rPr>
              <a:t>•  user_id – ID of uploading user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</a:rPr>
              <a:t>•  created_dat – Upload timestamp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61188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</a:rPr>
              <a:t>Comments: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388620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</a:rPr>
              <a:t>•  id, comment_text, user_id, photo_id, created_at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914400"/>
            <a:ext cx="0" cy="3840480"/>
          </a:xfrm>
          <a:prstGeom prst="line">
            <a:avLst/>
          </a:prstGeom>
          <a:noFill/>
          <a:ln w="25400">
            <a:solidFill>
              <a:srgbClr val="DCE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9601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</a:rPr>
              <a:t>Likes: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23444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</a:rPr>
              <a:t>•  user_id – User who liked the photo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</a:rPr>
              <a:t>•  photo_id – Photo that was liked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</a:rPr>
              <a:t>•  created_at – Like timestamp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194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</a:rPr>
              <a:t>Follows: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46888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</a:rPr>
              <a:t>•  follower_id – User doing the following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</a:rPr>
              <a:t>•  followee_id – User being followed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</a:rPr>
              <a:t>•  created_at – Follow timestamp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34290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</a:rPr>
              <a:t>Tags &amp; Photo_Tags: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3703320"/>
            <a:ext cx="40233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</a:rPr>
              <a:t>•  Tags: id, tag_name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</a:rPr>
              <a:t>•  Photo_Tags: photo_id, tag_id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25400">
            <a:solidFill>
              <a:srgbClr val="DCE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</a:rPr>
              <a:t>Ravi Kant Mishra  |  MySQL Workbench  |  ig_clone Database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B Schem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bg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E6F1"/>
          </a:solidFill>
        </p:spPr>
      </p:sp>
      <p:sp>
        <p:nvSpPr>
          <p:cNvPr id="3" name="hline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25400">
            <a:solidFill>
              <a:srgbClr val="4472C4"/>
            </a:solidFill>
          </a:ln>
        </p:spPr>
      </p:sp>
      <p:sp>
        <p:nvSpPr>
          <p:cNvPr id="4" name="title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97D"/>
                </a:solidFill>
              </a:rPr>
              <a:t>Database Schema — ig_clone</a:t>
            </a:r>
          </a:p>
        </p:txBody>
      </p:sp>
      <p:sp>
        <p:nvSpPr>
          <p:cNvPr id="10" name="u_h"/>
          <p:cNvSpPr/>
          <p:nvPr/>
        </p:nvSpPr>
        <p:spPr>
          <a:xfrm>
            <a:off x="274320" y="800000"/>
            <a:ext cx="1371600" cy="28000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users</a:t>
            </a:r>
          </a:p>
        </p:txBody>
      </p:sp>
      <p:sp>
        <p:nvSpPr>
          <p:cNvPr id="11" name="u_b"/>
          <p:cNvSpPr/>
          <p:nvPr/>
        </p:nvSpPr>
        <p:spPr>
          <a:xfrm>
            <a:off x="274320" y="1080000"/>
            <a:ext cx="1371600" cy="548640"/>
          </a:xfrm>
          <a:prstGeom prst="rect">
            <a:avLst/>
          </a:prstGeom>
          <a:solidFill>
            <a:srgbClr val="EEF4FF"/>
          </a:solidFill>
          <a:ln w="12700">
            <a:solidFill>
              <a:srgbClr val="C0D0E8"/>
            </a:solidFill>
            <a:prstDash val="solid"/>
          </a:ln>
        </p:spPr>
        <p:txBody>
          <a:bodyPr wrap="square" lIns="91440" tIns="45720" rIns="91440" bIns="45720" rtlCol="0" anchor="t"/>
          <a:lstStyle/>
          <a:p>
            <a:pPr algn="l">
              <a:buNone/>
            </a:pPr>
            <a:r>
              <a:rPr lang="en-US" sz="900" dirty="0">
                <a:solidFill>
                  <a:srgbClr val="1F497D"/>
                </a:solidFill>
              </a:rPr>
              <a:t>id (PK)</a:t>
            </a:r>
          </a:p>
          <a:p>
            <a:pPr algn="l">
              <a:buNone/>
            </a:pPr>
            <a:r>
              <a:rPr lang="en-US" sz="900" dirty="0">
                <a:solidFill>
                  <a:srgbClr val="333333"/>
                </a:solidFill>
              </a:rPr>
              <a:t>username</a:t>
            </a:r>
          </a:p>
          <a:p>
            <a:pPr algn="l">
              <a:buNone/>
            </a:pPr>
            <a:r>
              <a:rPr lang="en-US" sz="900" dirty="0">
                <a:solidFill>
                  <a:srgbClr val="333333"/>
                </a:solidFill>
              </a:rPr>
              <a:t>created_at</a:t>
            </a:r>
          </a:p>
        </p:txBody>
      </p:sp>
      <p:sp>
        <p:nvSpPr>
          <p:cNvPr id="20" name="p_h"/>
          <p:cNvSpPr/>
          <p:nvPr/>
        </p:nvSpPr>
        <p:spPr>
          <a:xfrm>
            <a:off x="1828800" y="800000"/>
            <a:ext cx="1371600" cy="28000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photos</a:t>
            </a:r>
          </a:p>
        </p:txBody>
      </p:sp>
      <p:sp>
        <p:nvSpPr>
          <p:cNvPr id="21" name="p_b"/>
          <p:cNvSpPr/>
          <p:nvPr/>
        </p:nvSpPr>
        <p:spPr>
          <a:xfrm>
            <a:off x="1828800" y="1080000"/>
            <a:ext cx="1371600" cy="731520"/>
          </a:xfrm>
          <a:prstGeom prst="rect">
            <a:avLst/>
          </a:prstGeom>
          <a:solidFill>
            <a:srgbClr val="EEF4FF"/>
          </a:solidFill>
          <a:ln w="12700">
            <a:solidFill>
              <a:srgbClr val="C0D0E8"/>
            </a:solidFill>
            <a:prstDash val="solid"/>
          </a:ln>
        </p:spPr>
        <p:txBody>
          <a:bodyPr wrap="square" lIns="91440" tIns="45720" rIns="91440" bIns="45720" rtlCol="0" anchor="t"/>
          <a:lstStyle/>
          <a:p>
            <a:pPr algn="l">
              <a:buNone/>
            </a:pPr>
            <a:r>
              <a:rPr lang="en-US" sz="900" dirty="0">
                <a:solidFill>
                  <a:srgbClr val="1F497D"/>
                </a:solidFill>
              </a:rPr>
              <a:t>id (PK)</a:t>
            </a:r>
          </a:p>
          <a:p>
            <a:pPr algn="l">
              <a:buNone/>
            </a:pPr>
            <a:r>
              <a:rPr lang="en-US" sz="900" dirty="0">
                <a:solidFill>
                  <a:srgbClr val="333333"/>
                </a:solidFill>
              </a:rPr>
              <a:t>image_url</a:t>
            </a:r>
          </a:p>
          <a:p>
            <a:pPr algn="l">
              <a:buNone/>
            </a:pPr>
            <a:r>
              <a:rPr lang="en-US" sz="900" dirty="0">
                <a:solidFill>
                  <a:srgbClr val="C0504D"/>
                </a:solidFill>
              </a:rPr>
              <a:t>user_id (FK)</a:t>
            </a:r>
          </a:p>
          <a:p>
            <a:pPr algn="l">
              <a:buNone/>
            </a:pPr>
            <a:r>
              <a:rPr lang="en-US" sz="900" dirty="0">
                <a:solidFill>
                  <a:srgbClr val="333333"/>
                </a:solidFill>
              </a:rPr>
              <a:t>created_dat</a:t>
            </a:r>
          </a:p>
        </p:txBody>
      </p:sp>
      <p:sp>
        <p:nvSpPr>
          <p:cNvPr id="30" name="c_h"/>
          <p:cNvSpPr/>
          <p:nvPr/>
        </p:nvSpPr>
        <p:spPr>
          <a:xfrm>
            <a:off x="3383280" y="800000"/>
            <a:ext cx="1554480" cy="28000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comments</a:t>
            </a:r>
          </a:p>
        </p:txBody>
      </p:sp>
      <p:sp>
        <p:nvSpPr>
          <p:cNvPr id="31" name="c_b"/>
          <p:cNvSpPr/>
          <p:nvPr/>
        </p:nvSpPr>
        <p:spPr>
          <a:xfrm>
            <a:off x="3383280" y="1080000"/>
            <a:ext cx="1554480" cy="914400"/>
          </a:xfrm>
          <a:prstGeom prst="rect">
            <a:avLst/>
          </a:prstGeom>
          <a:solidFill>
            <a:srgbClr val="EEF4FF"/>
          </a:solidFill>
          <a:ln w="12700">
            <a:solidFill>
              <a:srgbClr val="C0D0E8"/>
            </a:solidFill>
            <a:prstDash val="solid"/>
          </a:ln>
        </p:spPr>
        <p:txBody>
          <a:bodyPr wrap="square" lIns="91440" tIns="45720" rIns="91440" bIns="45720" rtlCol="0" anchor="t"/>
          <a:lstStyle/>
          <a:p>
            <a:pPr algn="l">
              <a:buNone/>
            </a:pPr>
            <a:r>
              <a:rPr lang="en-US" sz="900" dirty="0">
                <a:solidFill>
                  <a:srgbClr val="1F497D"/>
                </a:solidFill>
              </a:rPr>
              <a:t>id (PK)</a:t>
            </a:r>
          </a:p>
          <a:p>
            <a:pPr algn="l">
              <a:buNone/>
            </a:pPr>
            <a:r>
              <a:rPr lang="en-US" sz="900" dirty="0">
                <a:solidFill>
                  <a:srgbClr val="333333"/>
                </a:solidFill>
              </a:rPr>
              <a:t>comment_text</a:t>
            </a:r>
          </a:p>
          <a:p>
            <a:pPr algn="l">
              <a:buNone/>
            </a:pPr>
            <a:r>
              <a:rPr lang="en-US" sz="900" dirty="0">
                <a:solidFill>
                  <a:srgbClr val="C0504D"/>
                </a:solidFill>
              </a:rPr>
              <a:t>user_id (FK)</a:t>
            </a:r>
          </a:p>
          <a:p>
            <a:pPr algn="l">
              <a:buNone/>
            </a:pPr>
            <a:r>
              <a:rPr lang="en-US" sz="900" dirty="0">
                <a:solidFill>
                  <a:srgbClr val="C0504D"/>
                </a:solidFill>
              </a:rPr>
              <a:t>photo_id (FK)</a:t>
            </a:r>
          </a:p>
          <a:p>
            <a:pPr algn="l">
              <a:buNone/>
            </a:pPr>
            <a:r>
              <a:rPr lang="en-US" sz="900" dirty="0">
                <a:solidFill>
                  <a:srgbClr val="333333"/>
                </a:solidFill>
              </a:rPr>
              <a:t>created_at</a:t>
            </a:r>
          </a:p>
        </p:txBody>
      </p:sp>
      <p:sp>
        <p:nvSpPr>
          <p:cNvPr id="40" name="l_h"/>
          <p:cNvSpPr/>
          <p:nvPr/>
        </p:nvSpPr>
        <p:spPr>
          <a:xfrm>
            <a:off x="5120640" y="800000"/>
            <a:ext cx="1280160" cy="28000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likes</a:t>
            </a:r>
          </a:p>
        </p:txBody>
      </p:sp>
      <p:sp>
        <p:nvSpPr>
          <p:cNvPr id="41" name="l_b"/>
          <p:cNvSpPr/>
          <p:nvPr/>
        </p:nvSpPr>
        <p:spPr>
          <a:xfrm>
            <a:off x="5120640" y="1080000"/>
            <a:ext cx="1280160" cy="548640"/>
          </a:xfrm>
          <a:prstGeom prst="rect">
            <a:avLst/>
          </a:prstGeom>
          <a:solidFill>
            <a:srgbClr val="EEF4FF"/>
          </a:solidFill>
          <a:ln w="12700">
            <a:solidFill>
              <a:srgbClr val="C0D0E8"/>
            </a:solidFill>
            <a:prstDash val="solid"/>
          </a:ln>
        </p:spPr>
        <p:txBody>
          <a:bodyPr wrap="square" lIns="91440" tIns="45720" rIns="91440" bIns="45720" rtlCol="0" anchor="t"/>
          <a:lstStyle/>
          <a:p>
            <a:pPr algn="l">
              <a:buNone/>
            </a:pPr>
            <a:r>
              <a:rPr lang="en-US" sz="900" dirty="0">
                <a:solidFill>
                  <a:srgbClr val="C0504D"/>
                </a:solidFill>
              </a:rPr>
              <a:t>user_id (FK)</a:t>
            </a:r>
          </a:p>
          <a:p>
            <a:pPr algn="l">
              <a:buNone/>
            </a:pPr>
            <a:r>
              <a:rPr lang="en-US" sz="900" dirty="0">
                <a:solidFill>
                  <a:srgbClr val="C0504D"/>
                </a:solidFill>
              </a:rPr>
              <a:t>photo_id (FK)</a:t>
            </a:r>
          </a:p>
          <a:p>
            <a:pPr algn="l">
              <a:buNone/>
            </a:pPr>
            <a:r>
              <a:rPr lang="en-US" sz="900" dirty="0">
                <a:solidFill>
                  <a:srgbClr val="333333"/>
                </a:solidFill>
              </a:rPr>
              <a:t>created_at</a:t>
            </a:r>
          </a:p>
        </p:txBody>
      </p:sp>
      <p:sp>
        <p:nvSpPr>
          <p:cNvPr id="50" name="f_h"/>
          <p:cNvSpPr/>
          <p:nvPr/>
        </p:nvSpPr>
        <p:spPr>
          <a:xfrm>
            <a:off x="6583680" y="800000"/>
            <a:ext cx="1371600" cy="28000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follows</a:t>
            </a:r>
          </a:p>
        </p:txBody>
      </p:sp>
      <p:sp>
        <p:nvSpPr>
          <p:cNvPr id="51" name="f_b"/>
          <p:cNvSpPr/>
          <p:nvPr/>
        </p:nvSpPr>
        <p:spPr>
          <a:xfrm>
            <a:off x="6583680" y="1080000"/>
            <a:ext cx="1371600" cy="548640"/>
          </a:xfrm>
          <a:prstGeom prst="rect">
            <a:avLst/>
          </a:prstGeom>
          <a:solidFill>
            <a:srgbClr val="EEF4FF"/>
          </a:solidFill>
          <a:ln w="12700">
            <a:solidFill>
              <a:srgbClr val="C0D0E8"/>
            </a:solidFill>
            <a:prstDash val="solid"/>
          </a:ln>
        </p:spPr>
        <p:txBody>
          <a:bodyPr wrap="square" lIns="91440" tIns="45720" rIns="91440" bIns="45720" rtlCol="0" anchor="t"/>
          <a:lstStyle/>
          <a:p>
            <a:pPr algn="l">
              <a:buNone/>
            </a:pPr>
            <a:r>
              <a:rPr lang="en-US" sz="900" dirty="0">
                <a:solidFill>
                  <a:srgbClr val="C0504D"/>
                </a:solidFill>
              </a:rPr>
              <a:t>follower_id (FK)</a:t>
            </a:r>
          </a:p>
          <a:p>
            <a:pPr algn="l">
              <a:buNone/>
            </a:pPr>
            <a:r>
              <a:rPr lang="en-US" sz="900" dirty="0">
                <a:solidFill>
                  <a:srgbClr val="C0504D"/>
                </a:solidFill>
              </a:rPr>
              <a:t>followee_id (FK)</a:t>
            </a:r>
          </a:p>
          <a:p>
            <a:pPr algn="l">
              <a:buNone/>
            </a:pPr>
            <a:r>
              <a:rPr lang="en-US" sz="900" dirty="0">
                <a:solidFill>
                  <a:srgbClr val="333333"/>
                </a:solidFill>
              </a:rPr>
              <a:t>created_at</a:t>
            </a:r>
          </a:p>
        </p:txBody>
      </p:sp>
      <p:sp>
        <p:nvSpPr>
          <p:cNvPr id="60" name="t_h"/>
          <p:cNvSpPr/>
          <p:nvPr/>
        </p:nvSpPr>
        <p:spPr>
          <a:xfrm>
            <a:off x="274320" y="2200000"/>
            <a:ext cx="1097280" cy="280000"/>
          </a:xfrm>
          <a:prstGeom prst="rect">
            <a:avLst/>
          </a:prstGeom>
          <a:solidFill>
            <a:srgbClr val="70AD47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tags</a:t>
            </a:r>
          </a:p>
        </p:txBody>
      </p:sp>
      <p:sp>
        <p:nvSpPr>
          <p:cNvPr id="61" name="t_b"/>
          <p:cNvSpPr/>
          <p:nvPr/>
        </p:nvSpPr>
        <p:spPr>
          <a:xfrm>
            <a:off x="274320" y="2480000"/>
            <a:ext cx="1097280" cy="365760"/>
          </a:xfrm>
          <a:prstGeom prst="rect">
            <a:avLst/>
          </a:prstGeom>
          <a:solidFill>
            <a:srgbClr val="F0FFF0"/>
          </a:solidFill>
          <a:ln w="12700">
            <a:solidFill>
              <a:srgbClr val="9DC89D"/>
            </a:solidFill>
            <a:prstDash val="solid"/>
          </a:ln>
        </p:spPr>
        <p:txBody>
          <a:bodyPr wrap="square" lIns="91440" tIns="45720" rIns="91440" bIns="45720" rtlCol="0" anchor="t"/>
          <a:lstStyle/>
          <a:p>
            <a:pPr algn="l">
              <a:buNone/>
            </a:pPr>
            <a:r>
              <a:rPr lang="en-US" sz="900" dirty="0">
                <a:solidFill>
                  <a:srgbClr val="1F497D"/>
                </a:solidFill>
              </a:rPr>
              <a:t>id (PK)</a:t>
            </a:r>
          </a:p>
          <a:p>
            <a:pPr algn="l">
              <a:buNone/>
            </a:pPr>
            <a:r>
              <a:rPr lang="en-US" sz="900" dirty="0">
                <a:solidFill>
                  <a:srgbClr val="333333"/>
                </a:solidFill>
              </a:rPr>
              <a:t>tag_name</a:t>
            </a:r>
          </a:p>
        </p:txBody>
      </p:sp>
      <p:sp>
        <p:nvSpPr>
          <p:cNvPr id="70" name="pt_h"/>
          <p:cNvSpPr/>
          <p:nvPr/>
        </p:nvSpPr>
        <p:spPr>
          <a:xfrm>
            <a:off x="1554480" y="2200000"/>
            <a:ext cx="1554480" cy="280000"/>
          </a:xfrm>
          <a:prstGeom prst="rect">
            <a:avLst/>
          </a:prstGeom>
          <a:solidFill>
            <a:srgbClr val="70AD47"/>
          </a:solidFill>
          <a:ln w="0"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photo_tags</a:t>
            </a:r>
          </a:p>
        </p:txBody>
      </p:sp>
      <p:sp>
        <p:nvSpPr>
          <p:cNvPr id="71" name="pt_b"/>
          <p:cNvSpPr/>
          <p:nvPr/>
        </p:nvSpPr>
        <p:spPr>
          <a:xfrm>
            <a:off x="1554480" y="2480000"/>
            <a:ext cx="1554480" cy="365760"/>
          </a:xfrm>
          <a:prstGeom prst="rect">
            <a:avLst/>
          </a:prstGeom>
          <a:solidFill>
            <a:srgbClr val="F0FFF0"/>
          </a:solidFill>
          <a:ln w="12700">
            <a:solidFill>
              <a:srgbClr val="9DC89D"/>
            </a:solidFill>
            <a:prstDash val="solid"/>
          </a:ln>
        </p:spPr>
        <p:txBody>
          <a:bodyPr wrap="square" lIns="91440" tIns="45720" rIns="91440" bIns="45720" rtlCol="0" anchor="t"/>
          <a:lstStyle/>
          <a:p>
            <a:pPr algn="l">
              <a:buNone/>
            </a:pPr>
            <a:r>
              <a:rPr lang="en-US" sz="900" dirty="0">
                <a:solidFill>
                  <a:srgbClr val="C0504D"/>
                </a:solidFill>
              </a:rPr>
              <a:t>photo_id (FK)</a:t>
            </a:r>
          </a:p>
          <a:p>
            <a:pPr algn="l">
              <a:buNone/>
            </a:pPr>
            <a:r>
              <a:rPr lang="en-US" sz="900" dirty="0">
                <a:solidFill>
                  <a:srgbClr val="C0504D"/>
                </a:solidFill>
              </a:rPr>
              <a:t>tag_id (FK)</a:t>
            </a:r>
          </a:p>
        </p:txBody>
      </p:sp>
      <p:sp>
        <p:nvSpPr>
          <p:cNvPr id="80" name="rel_box"/>
          <p:cNvSpPr/>
          <p:nvPr/>
        </p:nvSpPr>
        <p:spPr>
          <a:xfrm>
            <a:off x="3291840" y="2150000"/>
            <a:ext cx="5578800" cy="1000000"/>
          </a:xfrm>
          <a:prstGeom prst="rect">
            <a:avLst/>
          </a:prstGeom>
          <a:solidFill>
            <a:srgbClr val="F2F6FC"/>
          </a:solidFill>
          <a:ln w="12700">
            <a:solidFill>
              <a:srgbClr val="4472C4"/>
            </a:solidFill>
            <a:prstDash val="solid"/>
          </a:ln>
        </p:spPr>
        <p:txBody>
          <a:bodyPr wrap="square" lIns="91440" tIns="91440" rIns="91440" bIns="91440" rtlCol="0" anchor="t"/>
          <a:lstStyle/>
          <a:p>
            <a:pPr algn="l">
              <a:buNone/>
            </a:pPr>
            <a:r>
              <a:rPr lang="en-US" sz="1100" b="1" dirty="0">
                <a:solidFill>
                  <a:srgbClr val="1F497D"/>
                </a:solidFill>
              </a:rPr>
              <a:t>Key Relationships</a:t>
            </a:r>
          </a:p>
          <a:p>
            <a:pPr algn="l">
              <a:buNone/>
            </a:pPr>
            <a:r>
              <a:rPr lang="en-US" sz="950" dirty="0">
                <a:solidFill>
                  <a:srgbClr val="333333"/>
                </a:solidFill>
              </a:rPr>
              <a:t>•  users.id → photos.user_id  (1:N)</a:t>
            </a:r>
          </a:p>
          <a:p>
            <a:pPr algn="l">
              <a:buNone/>
            </a:pPr>
            <a:r>
              <a:rPr lang="en-US" sz="950" dirty="0">
                <a:solidFill>
                  <a:srgbClr val="333333"/>
                </a:solidFill>
              </a:rPr>
              <a:t>•  photos.id → likes.photo_id  (1:N)</a:t>
            </a:r>
          </a:p>
          <a:p>
            <a:pPr algn="l">
              <a:buNone/>
            </a:pPr>
            <a:r>
              <a:rPr lang="en-US" sz="950" dirty="0">
                <a:solidFill>
                  <a:srgbClr val="333333"/>
                </a:solidFill>
              </a:rPr>
              <a:t>•  photos.id → comments.photo_id  (1:N)</a:t>
            </a:r>
          </a:p>
          <a:p>
            <a:pPr algn="l">
              <a:buNone/>
            </a:pPr>
            <a:r>
              <a:rPr lang="en-US" sz="950" dirty="0">
                <a:solidFill>
                  <a:srgbClr val="333333"/>
                </a:solidFill>
              </a:rPr>
              <a:t>•  tags.id → photo_tags.tag_id  (M:N bridge table)</a:t>
            </a:r>
          </a:p>
          <a:p>
            <a:pPr algn="l">
              <a:buNone/>
            </a:pPr>
            <a:r>
              <a:rPr lang="en-US" sz="950" dirty="0">
                <a:solidFill>
                  <a:srgbClr val="333333"/>
                </a:solidFill>
              </a:rPr>
              <a:t>•  users.id → follows.follower_id / followee_id  (self-ref)</a:t>
            </a:r>
          </a:p>
        </p:txBody>
      </p:sp>
      <p:sp>
        <p:nvSpPr>
          <p:cNvPr id="90" name="pk_sq"/>
          <p:cNvSpPr/>
          <p:nvPr/>
        </p:nvSpPr>
        <p:spPr>
          <a:xfrm>
            <a:off x="274320" y="3300000"/>
            <a:ext cx="228600" cy="182880"/>
          </a:xfrm>
          <a:prstGeom prst="rect">
            <a:avLst/>
          </a:prstGeom>
          <a:solidFill>
            <a:srgbClr val="1F497D"/>
          </a:solidFill>
          <a:ln w="0">
            <a:noFill/>
          </a:ln>
        </p:spPr>
      </p:sp>
      <p:sp>
        <p:nvSpPr>
          <p:cNvPr id="91" name="pk_lbl"/>
          <p:cNvSpPr/>
          <p:nvPr/>
        </p:nvSpPr>
        <p:spPr>
          <a:xfrm>
            <a:off x="548640" y="32850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900" dirty="0">
                <a:solidFill>
                  <a:srgbClr val="333333"/>
                </a:solidFill>
              </a:rPr>
              <a:t>PK = Primary Key</a:t>
            </a:r>
          </a:p>
        </p:txBody>
      </p:sp>
      <p:sp>
        <p:nvSpPr>
          <p:cNvPr id="92" name="fk_sq"/>
          <p:cNvSpPr/>
          <p:nvPr/>
        </p:nvSpPr>
        <p:spPr>
          <a:xfrm>
            <a:off x="1828800" y="3300000"/>
            <a:ext cx="228600" cy="182880"/>
          </a:xfrm>
          <a:prstGeom prst="rect">
            <a:avLst/>
          </a:prstGeom>
          <a:solidFill>
            <a:srgbClr val="C0504D"/>
          </a:solidFill>
          <a:ln w="0">
            <a:noFill/>
          </a:ln>
        </p:spPr>
      </p:sp>
      <p:sp>
        <p:nvSpPr>
          <p:cNvPr id="93" name="fk_lbl"/>
          <p:cNvSpPr/>
          <p:nvPr/>
        </p:nvSpPr>
        <p:spPr>
          <a:xfrm>
            <a:off x="2103120" y="32850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buNone/>
            </a:pPr>
            <a:r>
              <a:rPr lang="en-US" sz="900" dirty="0">
                <a:solidFill>
                  <a:srgbClr val="333333"/>
                </a:solidFill>
              </a:rPr>
              <a:t>FK = Foreign Key</a:t>
            </a:r>
          </a:p>
        </p:txBody>
      </p:sp>
      <p:sp>
        <p:nvSpPr>
          <p:cNvPr id="99" name="fl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25400">
            <a:solidFill>
              <a:srgbClr val="DCE6F1"/>
            </a:solidFill>
            <a:prstDash val="solid"/>
          </a:ln>
        </p:spPr>
      </p:sp>
      <p:sp>
        <p:nvSpPr>
          <p:cNvPr id="100" name="ft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</a:rPr>
              <a:t>Ravi Kant Mishra  |  MySQL Workbench  |  ig_clone Database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97D"/>
                </a:solidFill>
              </a:rPr>
              <a:t>Data Analysis &amp; Key Findings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333333"/>
                </a:solidFill>
              </a:rPr>
              <a:t>•  User Distribution by Activity Level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333333"/>
                </a:solidFill>
              </a:rPr>
              <a:t>•  Top Users by Total Engagement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333333"/>
                </a:solidFill>
              </a:rPr>
              <a:t>•  High Value Users &amp; Reward Strategy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333333"/>
                </a:solidFill>
              </a:rPr>
              <a:t>•  Influencer Marketing Candidates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333333"/>
                </a:solidFill>
              </a:rPr>
              <a:t>•  User Segmentation for Targeted Marketing</a:t>
            </a:r>
            <a:endParaRPr lang="en-US" sz="15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500" dirty="0">
                <a:solidFill>
                  <a:srgbClr val="333333"/>
                </a:solidFill>
              </a:rPr>
              <a:t>•  Posting Consistency vs User Engagement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25400">
            <a:solidFill>
              <a:srgbClr val="DCE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</a:rPr>
              <a:t>Ravi Kant Mishra  |  MySQL Workbench  |  ig_clone Database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ashtag Engagem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bg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E6F1"/>
          </a:solidFill>
        </p:spPr>
      </p:sp>
      <p:sp>
        <p:nvSpPr>
          <p:cNvPr id="3" name="hline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25400">
            <a:solidFill>
              <a:srgbClr val="4472C4"/>
            </a:solidFill>
          </a:ln>
        </p:spPr>
      </p:sp>
      <p:sp>
        <p:nvSpPr>
          <p:cNvPr id="4" name="title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97D"/>
                </a:solidFill>
              </a:rPr>
              <a:t>Top Hashtags by Engagement Rate</a:t>
            </a:r>
          </a:p>
        </p:txBody>
      </p:sp>
      <p:sp>
        <p:nvSpPr>
          <p:cNvPr id="5" name="yax"/>
          <p:cNvSpPr/>
          <p:nvPr/>
        </p:nvSpPr>
        <p:spPr>
          <a:xfrm rot="16200000">
            <a:off x="274320" y="2000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900" dirty="0">
                <a:solidFill>
                  <a:srgbClr val="888888"/>
                </a:solidFill>
              </a:rPr>
              <a:t>Engagement Rate</a:t>
            </a:r>
          </a:p>
        </p:txBody>
      </p:sp>
      <p:sp>
        <p:nvSpPr>
          <p:cNvPr id="10" name="l1"/>
          <p:cNvSpPr/>
          <p:nvPr/>
        </p:nvSpPr>
        <p:spPr>
          <a:xfrm>
            <a:off x="1005840" y="840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4472C4"/>
                </a:solidFill>
              </a:rPr>
              <a:t>34.5</a:t>
            </a:r>
          </a:p>
        </p:txBody>
      </p:sp>
      <p:sp>
        <p:nvSpPr>
          <p:cNvPr id="11" name="l2"/>
          <p:cNvSpPr/>
          <p:nvPr/>
        </p:nvSpPr>
        <p:spPr>
          <a:xfrm>
            <a:off x="2194560" y="950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4472C4"/>
                </a:solidFill>
              </a:rPr>
              <a:t>33.2</a:t>
            </a:r>
          </a:p>
        </p:txBody>
      </p:sp>
      <p:sp>
        <p:nvSpPr>
          <p:cNvPr id="12" name="l3"/>
          <p:cNvSpPr/>
          <p:nvPr/>
        </p:nvSpPr>
        <p:spPr>
          <a:xfrm>
            <a:off x="3383280" y="1060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4472C4"/>
                </a:solidFill>
              </a:rPr>
              <a:t>31.8</a:t>
            </a:r>
          </a:p>
        </p:txBody>
      </p:sp>
      <p:sp>
        <p:nvSpPr>
          <p:cNvPr id="13" name="l4"/>
          <p:cNvSpPr/>
          <p:nvPr/>
        </p:nvSpPr>
        <p:spPr>
          <a:xfrm>
            <a:off x="4572000" y="1200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4472C4"/>
                </a:solidFill>
              </a:rPr>
              <a:t>29.7</a:t>
            </a:r>
          </a:p>
        </p:txBody>
      </p:sp>
      <p:sp>
        <p:nvSpPr>
          <p:cNvPr id="14" name="l5"/>
          <p:cNvSpPr/>
          <p:nvPr/>
        </p:nvSpPr>
        <p:spPr>
          <a:xfrm>
            <a:off x="5760720" y="1340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100" b="1" dirty="0">
                <a:solidFill>
                  <a:srgbClr val="4472C4"/>
                </a:solidFill>
              </a:rPr>
              <a:t>27.4</a:t>
            </a:r>
          </a:p>
        </p:txBody>
      </p:sp>
      <p:sp>
        <p:nvSpPr>
          <p:cNvPr id="20" name="bg1"/>
          <p:cNvSpPr/>
          <p:nvPr/>
        </p:nvSpPr>
        <p:spPr>
          <a:xfrm>
            <a:off x="1005840" y="1114320"/>
            <a:ext cx="914400" cy="2743200"/>
          </a:xfrm>
          <a:prstGeom prst="rect">
            <a:avLst/>
          </a:prstGeom>
          <a:solidFill>
            <a:srgbClr val="E9EFF7"/>
          </a:solidFill>
          <a:ln w="0">
            <a:noFill/>
          </a:ln>
        </p:spPr>
      </p:sp>
      <p:sp>
        <p:nvSpPr>
          <p:cNvPr id="30" name="bar1"/>
          <p:cNvSpPr/>
          <p:nvPr/>
        </p:nvSpPr>
        <p:spPr>
          <a:xfrm>
            <a:off x="1005840" y="1152520"/>
            <a:ext cx="914400" cy="270500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</p:sp>
      <p:sp>
        <p:nvSpPr>
          <p:cNvPr id="31" name="bar2"/>
          <p:cNvSpPr/>
          <p:nvPr/>
        </p:nvSpPr>
        <p:spPr>
          <a:xfrm>
            <a:off x="2194560" y="1254520"/>
            <a:ext cx="914400" cy="260300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</p:sp>
      <p:sp>
        <p:nvSpPr>
          <p:cNvPr id="32" name="bar3"/>
          <p:cNvSpPr/>
          <p:nvPr/>
        </p:nvSpPr>
        <p:spPr>
          <a:xfrm>
            <a:off x="3383280" y="1365520"/>
            <a:ext cx="914400" cy="2492000"/>
          </a:xfrm>
          <a:prstGeom prst="rect">
            <a:avLst/>
          </a:prstGeom>
          <a:solidFill>
            <a:srgbClr val="ED7D31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bar4"/>
          <p:cNvSpPr/>
          <p:nvPr/>
        </p:nvSpPr>
        <p:spPr>
          <a:xfrm>
            <a:off x="4572000" y="1529520"/>
            <a:ext cx="914400" cy="232800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</p:sp>
      <p:sp>
        <p:nvSpPr>
          <p:cNvPr id="34" name="bar5"/>
          <p:cNvSpPr/>
          <p:nvPr/>
        </p:nvSpPr>
        <p:spPr>
          <a:xfrm>
            <a:off x="5760720" y="1709520"/>
            <a:ext cx="914400" cy="214800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</p:sp>
      <p:sp>
        <p:nvSpPr>
          <p:cNvPr id="40" name="xl1"/>
          <p:cNvSpPr/>
          <p:nvPr/>
        </p:nvSpPr>
        <p:spPr>
          <a:xfrm>
            <a:off x="1005840" y="3857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333333"/>
                </a:solidFill>
              </a:rPr>
              <a:t>#delicious</a:t>
            </a:r>
          </a:p>
        </p:txBody>
      </p:sp>
      <p:sp>
        <p:nvSpPr>
          <p:cNvPr id="41" name="xl2"/>
          <p:cNvSpPr/>
          <p:nvPr/>
        </p:nvSpPr>
        <p:spPr>
          <a:xfrm>
            <a:off x="2194560" y="3857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333333"/>
                </a:solidFill>
              </a:rPr>
              <a:t>#food</a:t>
            </a:r>
          </a:p>
        </p:txBody>
      </p:sp>
      <p:sp>
        <p:nvSpPr>
          <p:cNvPr id="42" name="xl3"/>
          <p:cNvSpPr/>
          <p:nvPr/>
        </p:nvSpPr>
        <p:spPr>
          <a:xfrm>
            <a:off x="3383280" y="3857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ED7D31"/>
                </a:solidFill>
              </a:rPr>
              <a:t>#sunset</a:t>
            </a:r>
          </a:p>
        </p:txBody>
      </p:sp>
      <p:sp>
        <p:nvSpPr>
          <p:cNvPr id="43" name="xl4"/>
          <p:cNvSpPr/>
          <p:nvPr/>
        </p:nvSpPr>
        <p:spPr>
          <a:xfrm>
            <a:off x="4572000" y="3857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333333"/>
                </a:solidFill>
              </a:rPr>
              <a:t>#beauty</a:t>
            </a:r>
          </a:p>
        </p:txBody>
      </p:sp>
      <p:sp>
        <p:nvSpPr>
          <p:cNvPr id="44" name="xl5"/>
          <p:cNvSpPr/>
          <p:nvPr/>
        </p:nvSpPr>
        <p:spPr>
          <a:xfrm>
            <a:off x="5760720" y="3857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buNone/>
            </a:pPr>
            <a:r>
              <a:rPr lang="en-US" sz="1000" b="1" dirty="0">
                <a:solidFill>
                  <a:srgbClr val="333333"/>
                </a:solidFill>
              </a:rPr>
              <a:t>#dreamy</a:t>
            </a:r>
          </a:p>
        </p:txBody>
      </p:sp>
      <p:sp>
        <p:nvSpPr>
          <p:cNvPr id="50" name="kf_box"/>
          <p:cNvSpPr/>
          <p:nvPr/>
        </p:nvSpPr>
        <p:spPr>
          <a:xfrm>
            <a:off x="492065" y="4150000"/>
            <a:ext cx="7949481" cy="640000"/>
          </a:xfrm>
          <a:prstGeom prst="rect">
            <a:avLst/>
          </a:prstGeom>
          <a:solidFill>
            <a:srgbClr val="F2F6FC"/>
          </a:solidFill>
          <a:ln w="12700">
            <a:solidFill>
              <a:srgbClr val="4472C4"/>
            </a:solidFill>
            <a:prstDash val="solid"/>
          </a:ln>
        </p:spPr>
        <p:txBody>
          <a:bodyPr wrap="square" lIns="91440" tIns="60000" rIns="91440" bIns="60000" rtlCol="0" anchor="ctr"/>
          <a:lstStyle/>
          <a:p>
            <a:pPr algn="l">
              <a:buNone/>
            </a:pPr>
            <a:r>
              <a:rPr lang="en-US" sz="1100" b="1" dirty="0">
                <a:solidFill>
                  <a:srgbClr val="1F497D"/>
                </a:solidFill>
              </a:rPr>
              <a:t>Key Points: </a:t>
            </a:r>
            <a:r>
              <a:rPr lang="en-US" sz="1100" dirty="0">
                <a:solidFill>
                  <a:srgbClr val="333333"/>
                </a:solidFill>
              </a:rPr>
              <a:t>Food &amp; lifestyle hashtags dominate engagement. </a:t>
            </a:r>
            <a:r>
              <a:rPr lang="en-US" sz="1100" b="1" dirty="0">
                <a:solidFill>
                  <a:srgbClr val="ED7D31"/>
                </a:solidFill>
              </a:rPr>
              <a:t>#sunset</a:t>
            </a:r>
            <a:r>
              <a:rPr lang="en-US" sz="1100" dirty="0">
                <a:solidFill>
                  <a:srgbClr val="333333"/>
                </a:solidFill>
              </a:rPr>
              <a:t> is top-performing visual content tag. Ads using these hashtags see higher CTR and conversions.</a:t>
            </a:r>
          </a:p>
        </p:txBody>
      </p:sp>
      <p:sp>
        <p:nvSpPr>
          <p:cNvPr id="99" name="fl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25400">
            <a:solidFill>
              <a:srgbClr val="DCE6F1"/>
            </a:solidFill>
            <a:prstDash val="solid"/>
          </a:ln>
        </p:spPr>
      </p:sp>
      <p:sp>
        <p:nvSpPr>
          <p:cNvPr id="100" name="ft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</a:rPr>
              <a:t>Ravi Kant Mishra  |  MySQL Workbench  |  ig_clone Database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ser Segmentation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bg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E6F1"/>
          </a:solidFill>
        </p:spPr>
      </p:sp>
      <p:sp>
        <p:nvSpPr>
          <p:cNvPr id="3" name="hline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25400">
            <a:solidFill>
              <a:srgbClr val="4472C4"/>
            </a:solidFill>
          </a:ln>
        </p:spPr>
      </p:sp>
      <p:sp>
        <p:nvSpPr>
          <p:cNvPr id="4" name="title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97D"/>
                </a:solidFill>
              </a:rPr>
              <a:t>User Segmentation by Engagement</a:t>
            </a:r>
          </a:p>
        </p:txBody>
      </p:sp>
      <p:sp>
        <p:nvSpPr>
          <p:cNvPr id="10" name="c1bg"/>
          <p:cNvSpPr/>
          <p:nvPr/>
        </p:nvSpPr>
        <p:spPr>
          <a:xfrm>
            <a:off x="365760" y="800000"/>
            <a:ext cx="3840480" cy="137160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</p:sp>
      <p:sp>
        <p:nvSpPr>
          <p:cNvPr id="11" name="c1txt"/>
          <p:cNvSpPr/>
          <p:nvPr/>
        </p:nvSpPr>
        <p:spPr>
          <a:xfrm>
            <a:off x="365760" y="800000"/>
            <a:ext cx="3840480" cy="1371600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High Value Users</a:t>
            </a:r>
          </a:p>
          <a:p>
            <a:pPr algn="l">
              <a:buNone/>
            </a:pPr>
            <a:r>
              <a:rPr lang="en-US" sz="1100" dirty="0">
                <a:solidFill>
                  <a:srgbClr val="DCE9FF"/>
                </a:solidFill>
              </a:rPr>
              <a:t>5+ posts, avg engagement ≥35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000" dirty="0">
                <a:solidFill>
                  <a:srgbClr val="FFFFFF"/>
                </a:solidFill>
              </a:rPr>
              <a:t>• Premium campaigns</a:t>
            </a:r>
          </a:p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• Influencer partnerships</a:t>
            </a:r>
          </a:p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• Exclusive brand deals</a:t>
            </a:r>
          </a:p>
        </p:txBody>
      </p:sp>
      <p:sp>
        <p:nvSpPr>
          <p:cNvPr id="20" name="c2bg"/>
          <p:cNvSpPr/>
          <p:nvPr/>
        </p:nvSpPr>
        <p:spPr>
          <a:xfrm>
            <a:off x="4937760" y="800000"/>
            <a:ext cx="3840480" cy="1371600"/>
          </a:xfrm>
          <a:prstGeom prst="rect">
            <a:avLst/>
          </a:prstGeom>
          <a:solidFill>
            <a:srgbClr val="70AD47"/>
          </a:solidFill>
          <a:ln w="0">
            <a:noFill/>
          </a:ln>
        </p:spPr>
      </p:sp>
      <p:sp>
        <p:nvSpPr>
          <p:cNvPr id="21" name="c2txt"/>
          <p:cNvSpPr/>
          <p:nvPr/>
        </p:nvSpPr>
        <p:spPr>
          <a:xfrm>
            <a:off x="4937760" y="800000"/>
            <a:ext cx="3840480" cy="1371600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Engaged New Creators</a:t>
            </a:r>
          </a:p>
          <a:p>
            <a:pPr algn="l">
              <a:buNone/>
            </a:pPr>
            <a:r>
              <a:rPr lang="en-US" sz="1100" dirty="0">
                <a:solidFill>
                  <a:srgbClr val="DCFFE0"/>
                </a:solidFill>
              </a:rPr>
              <a:t>&lt;5 posts, avg engagement ≥35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000" dirty="0">
                <a:solidFill>
                  <a:srgbClr val="FFFFFF"/>
                </a:solidFill>
              </a:rPr>
              <a:t>• Visibility boosts</a:t>
            </a:r>
          </a:p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• Featured placements</a:t>
            </a:r>
          </a:p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• Growth incentives</a:t>
            </a:r>
          </a:p>
        </p:txBody>
      </p:sp>
      <p:sp>
        <p:nvSpPr>
          <p:cNvPr id="30" name="c3bg"/>
          <p:cNvSpPr/>
          <p:nvPr/>
        </p:nvSpPr>
        <p:spPr>
          <a:xfrm>
            <a:off x="365760" y="2354400"/>
            <a:ext cx="3840480" cy="1371600"/>
          </a:xfrm>
          <a:prstGeom prst="rect">
            <a:avLst/>
          </a:prstGeom>
          <a:solidFill>
            <a:srgbClr val="ED7D31"/>
          </a:solidFill>
          <a:ln w="0">
            <a:noFill/>
          </a:ln>
        </p:spPr>
      </p:sp>
      <p:sp>
        <p:nvSpPr>
          <p:cNvPr id="31" name="c3txt"/>
          <p:cNvSpPr/>
          <p:nvPr/>
        </p:nvSpPr>
        <p:spPr>
          <a:xfrm>
            <a:off x="365760" y="2354400"/>
            <a:ext cx="3840480" cy="1371600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Active Moderate</a:t>
            </a:r>
          </a:p>
          <a:p>
            <a:pPr algn="l">
              <a:buNone/>
            </a:pPr>
            <a:r>
              <a:rPr lang="en-US" sz="1100" dirty="0">
                <a:solidFill>
                  <a:srgbClr val="FFE8D0"/>
                </a:solidFill>
              </a:rPr>
              <a:t>5+ posts, engagement 25–35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000" dirty="0">
                <a:solidFill>
                  <a:srgbClr val="FFFFFF"/>
                </a:solidFill>
              </a:rPr>
              <a:t>• Gamification rewards</a:t>
            </a:r>
          </a:p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• Milestone badges</a:t>
            </a:r>
          </a:p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• Creator challenges</a:t>
            </a:r>
          </a:p>
        </p:txBody>
      </p:sp>
      <p:sp>
        <p:nvSpPr>
          <p:cNvPr id="40" name="c4bg"/>
          <p:cNvSpPr/>
          <p:nvPr/>
        </p:nvSpPr>
        <p:spPr>
          <a:xfrm>
            <a:off x="4937760" y="2354400"/>
            <a:ext cx="3840480" cy="1371600"/>
          </a:xfrm>
          <a:prstGeom prst="rect">
            <a:avLst/>
          </a:prstGeom>
          <a:solidFill>
            <a:srgbClr val="808080"/>
          </a:solidFill>
          <a:ln w="0">
            <a:noFill/>
          </a:ln>
        </p:spPr>
      </p:sp>
      <p:sp>
        <p:nvSpPr>
          <p:cNvPr id="41" name="c4txt"/>
          <p:cNvSpPr/>
          <p:nvPr/>
        </p:nvSpPr>
        <p:spPr>
          <a:xfrm>
            <a:off x="4937760" y="2354400"/>
            <a:ext cx="3840480" cy="1371600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buNone/>
            </a:pPr>
            <a:r>
              <a:rPr lang="en-US" sz="1800" b="1" dirty="0">
                <a:solidFill>
                  <a:srgbClr val="FFFFFF"/>
                </a:solidFill>
              </a:rPr>
              <a:t>Inactive Users</a:t>
            </a:r>
          </a:p>
          <a:p>
            <a:pPr algn="l">
              <a:buNone/>
            </a:pPr>
            <a:r>
              <a:rPr lang="en-US" sz="1100" dirty="0">
                <a:solidFill>
                  <a:srgbClr val="E0E0E0"/>
                </a:solidFill>
              </a:rPr>
              <a:t>No posts, likes or comments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1000" dirty="0">
                <a:solidFill>
                  <a:srgbClr val="FFFFFF"/>
                </a:solidFill>
              </a:rPr>
              <a:t>• Re-engagement funnel</a:t>
            </a:r>
          </a:p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• Personalized notifications</a:t>
            </a:r>
          </a:p>
          <a:p>
            <a:pPr algn="l">
              <a:buNone/>
            </a:pPr>
            <a:r>
              <a:rPr lang="en-US" sz="1000" dirty="0">
                <a:solidFill>
                  <a:srgbClr val="FFFFFF"/>
                </a:solidFill>
              </a:rPr>
              <a:t>• Incentive-based recovery</a:t>
            </a:r>
          </a:p>
        </p:txBody>
      </p:sp>
      <p:sp>
        <p:nvSpPr>
          <p:cNvPr id="50" name="stat_box"/>
          <p:cNvSpPr/>
          <p:nvPr/>
        </p:nvSpPr>
        <p:spPr>
          <a:xfrm>
            <a:off x="365760" y="3840000"/>
            <a:ext cx="8412480" cy="640000"/>
          </a:xfrm>
          <a:prstGeom prst="rect">
            <a:avLst/>
          </a:prstGeom>
          <a:solidFill>
            <a:srgbClr val="F2F6FC"/>
          </a:solidFill>
          <a:ln w="12700">
            <a:solidFill>
              <a:srgbClr val="4472C4"/>
            </a:solidFill>
            <a:prstDash val="solid"/>
          </a:ln>
        </p:spPr>
        <p:txBody>
          <a:bodyPr wrap="square" lIns="182880" tIns="91440" rIns="182880" bIns="91440" rtlCol="0" anchor="ctr"/>
          <a:lstStyle/>
          <a:p>
            <a:pPr algn="l">
              <a:buNone/>
            </a:pPr>
            <a:r>
              <a:rPr lang="en-US" sz="1100" b="1" dirty="0">
                <a:solidFill>
                  <a:srgbClr val="1F497D"/>
                </a:solidFill>
              </a:rPr>
              <a:t>Key Points: </a:t>
            </a:r>
            <a:r>
              <a:rPr lang="en-US" sz="1100" dirty="0">
                <a:solidFill>
                  <a:srgbClr val="333333"/>
                </a:solidFill>
              </a:rPr>
              <a:t>77% users are High Activity. Segmentation enables precision targeting, reducing wasted ad spend. Re-engaging the 13 inactive users could increase platform DAUs by up to 13%.</a:t>
            </a:r>
          </a:p>
        </p:txBody>
      </p:sp>
      <p:sp>
        <p:nvSpPr>
          <p:cNvPr id="99" name="fl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25400">
            <a:solidFill>
              <a:srgbClr val="DCE6F1"/>
            </a:solidFill>
            <a:prstDash val="solid"/>
          </a:ln>
        </p:spPr>
      </p:sp>
      <p:sp>
        <p:nvSpPr>
          <p:cNvPr id="100" name="ft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</a:rPr>
              <a:t>Ravi Kant Mishra  |  MySQL Workbench  |  ig_clone Database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97D"/>
                </a:solidFill>
              </a:rPr>
              <a:t>User Distribution by Activity Level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33333"/>
                </a:solidFill>
              </a:rPr>
              <a:t>High Activity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6000" y="969264"/>
            <a:ext cx="5029200" cy="365760"/>
          </a:xfrm>
          <a:prstGeom prst="rect">
            <a:avLst/>
          </a:prstGeom>
          <a:solidFill>
            <a:srgbClr val="E9EFF7"/>
          </a:solidFill>
          <a:ln w="12700">
            <a:solidFill>
              <a:srgbClr val="E9EF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955547"/>
            <a:ext cx="5029200" cy="36576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0" y="876371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472C4"/>
                </a:solidFill>
              </a:rPr>
              <a:t>77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591056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33333"/>
                </a:solidFill>
              </a:rPr>
              <a:t>Inactive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0" y="1645920"/>
            <a:ext cx="5029200" cy="365760"/>
          </a:xfrm>
          <a:prstGeom prst="rect">
            <a:avLst/>
          </a:prstGeom>
          <a:solidFill>
            <a:srgbClr val="E9EFF7"/>
          </a:solidFill>
          <a:ln w="12700">
            <a:solidFill>
              <a:srgbClr val="E9EF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0" y="1645920"/>
            <a:ext cx="849086" cy="365760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6526" y="1591056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08080"/>
                </a:solidFill>
              </a:rPr>
              <a:t>13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267712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33333"/>
                </a:solidFill>
              </a:rPr>
              <a:t>Low Activity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0" y="2322576"/>
            <a:ext cx="5029200" cy="365760"/>
          </a:xfrm>
          <a:prstGeom prst="rect">
            <a:avLst/>
          </a:prstGeom>
          <a:solidFill>
            <a:srgbClr val="E9EFF7"/>
          </a:solidFill>
          <a:ln w="12700">
            <a:solidFill>
              <a:srgbClr val="E9EF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0" y="2322576"/>
            <a:ext cx="522514" cy="365760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99954" y="2267712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D7D31"/>
                </a:solidFill>
              </a:rPr>
              <a:t>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2944368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333333"/>
                </a:solidFill>
              </a:rPr>
              <a:t>Medium Activity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0" y="2999232"/>
            <a:ext cx="5029200" cy="365760"/>
          </a:xfrm>
          <a:prstGeom prst="rect">
            <a:avLst/>
          </a:prstGeom>
          <a:solidFill>
            <a:srgbClr val="E9EFF7"/>
          </a:solidFill>
          <a:ln w="12700">
            <a:solidFill>
              <a:srgbClr val="E9EF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0" y="2999232"/>
            <a:ext cx="130629" cy="365760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08069" y="2944368"/>
            <a:ext cx="457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0AD47"/>
                </a:solidFill>
              </a:rPr>
              <a:t>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1157" y="3538728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</a:rPr>
              <a:t>Key Findings: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2065" y="3858768"/>
            <a:ext cx="7949481" cy="9191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</a:rPr>
              <a:t>•  77% users are highly active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</a:rPr>
              <a:t>•  13 inactive users — re-engagement opportunity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</a:rPr>
              <a:t>•  Only 2 medium-activity users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</a:rPr>
              <a:t>•  Strong engagement but visible activity gap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25400">
            <a:solidFill>
              <a:srgbClr val="DCE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</a:rPr>
              <a:t>Ravi Kant Mishra  |  MySQL Workbench  |  ig_clone Database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97D"/>
                </a:solidFill>
              </a:rPr>
              <a:t>Top Users by Engagement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3657600" cy="347472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Username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23360" y="960120"/>
            <a:ext cx="1645920" cy="347472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0" y="9601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Engagement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307592"/>
            <a:ext cx="3657600" cy="347472"/>
          </a:xfrm>
          <a:prstGeom prst="rect">
            <a:avLst/>
          </a:prstGeom>
          <a:solidFill>
            <a:srgbClr val="F2F7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075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Eveline95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023360" y="1307592"/>
            <a:ext cx="1645920" cy="347472"/>
          </a:xfrm>
          <a:prstGeom prst="rect">
            <a:avLst/>
          </a:prstGeom>
          <a:solidFill>
            <a:srgbClr val="F2F7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130759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72C4"/>
                </a:solidFill>
              </a:rPr>
              <a:t>341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91640"/>
            <a:ext cx="3657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6916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Cesar93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023360" y="1691640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0" y="16916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72C4"/>
                </a:solidFill>
              </a:rPr>
              <a:t>318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075688"/>
            <a:ext cx="3657600" cy="347472"/>
          </a:xfrm>
          <a:prstGeom prst="rect">
            <a:avLst/>
          </a:prstGeom>
          <a:solidFill>
            <a:srgbClr val="F2F7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07568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Clint27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23360" y="2075688"/>
            <a:ext cx="1645920" cy="347472"/>
          </a:xfrm>
          <a:prstGeom prst="rect">
            <a:avLst/>
          </a:prstGeom>
          <a:solidFill>
            <a:srgbClr val="F2F7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207568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72C4"/>
                </a:solidFill>
              </a:rPr>
              <a:t>310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2459736"/>
            <a:ext cx="3657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4597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Delfina_VonRueden68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023360" y="2459736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23360" y="245973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72C4"/>
                </a:solidFill>
              </a:rPr>
              <a:t>282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2843784"/>
            <a:ext cx="3657600" cy="347472"/>
          </a:xfrm>
          <a:prstGeom prst="rect">
            <a:avLst/>
          </a:prstGeom>
          <a:solidFill>
            <a:srgbClr val="F2F7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843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Aurelie71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023360" y="2843784"/>
            <a:ext cx="1645920" cy="347472"/>
          </a:xfrm>
          <a:prstGeom prst="rect">
            <a:avLst/>
          </a:prstGeom>
          <a:solidFill>
            <a:srgbClr val="F2F7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0" y="284378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72C4"/>
                </a:solidFill>
              </a:rPr>
              <a:t>250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3227832"/>
            <a:ext cx="3657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22783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Jaime53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023360" y="3227832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23360" y="32278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72C4"/>
                </a:solidFill>
              </a:rPr>
              <a:t>237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611880"/>
            <a:ext cx="3657600" cy="347472"/>
          </a:xfrm>
          <a:prstGeom prst="rect">
            <a:avLst/>
          </a:prstGeom>
          <a:solidFill>
            <a:srgbClr val="F2F7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61188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Nia_Haag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023360" y="3611880"/>
            <a:ext cx="1645920" cy="347472"/>
          </a:xfrm>
          <a:prstGeom prst="rect">
            <a:avLst/>
          </a:prstGeom>
          <a:solidFill>
            <a:srgbClr val="F2F7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23360" y="36118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72C4"/>
                </a:solidFill>
              </a:rPr>
              <a:t>223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3995928"/>
            <a:ext cx="36576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399592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</a:rPr>
              <a:t>Aiyana_Hoeger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023360" y="3995928"/>
            <a:ext cx="1645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0" y="399592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72C4"/>
                </a:solidFill>
              </a:rPr>
              <a:t>210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943600" y="960120"/>
            <a:ext cx="2926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</a:rPr>
              <a:t>Observations: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943600" y="1298448"/>
            <a:ext cx="29260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</a:rPr>
              <a:t>•  Top 10 users generate 150–341 interactions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</a:rPr>
              <a:t>•  Comments drive more engagement than likes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</a:rPr>
              <a:t>•  Clear performance gap after top 3 users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rgbClr val="333333"/>
                </a:solidFill>
              </a:rPr>
              <a:t>•  Small group disproportionately drives platform interaction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25400">
            <a:solidFill>
              <a:srgbClr val="DCE6F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</a:rPr>
              <a:t>Ravi Kant Mishra  |  MySQL Workbench  |  ig_clone Database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97D"/>
                </a:solidFill>
              </a:rPr>
              <a:t>High Value Users &amp; Reward Strategy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1463040" cy="6858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Gold Tier  (≥300)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20240" y="960120"/>
            <a:ext cx="6858000" cy="685800"/>
          </a:xfrm>
          <a:prstGeom prst="rect">
            <a:avLst/>
          </a:prstGeom>
          <a:solidFill>
            <a:srgbClr val="F7F9F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996696"/>
            <a:ext cx="64922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</a:rPr>
              <a:t>Featured profiles &amp; exclusive benefits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057400" y="1307592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Top users: Eveline95, Cesar93, Clint27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20240"/>
            <a:ext cx="1463040" cy="685800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2024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Silver Tier  (≥200)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20240" y="1920240"/>
            <a:ext cx="6858000" cy="685800"/>
          </a:xfrm>
          <a:prstGeom prst="rect">
            <a:avLst/>
          </a:prstGeom>
          <a:solidFill>
            <a:srgbClr val="F7F9F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57400" y="1956816"/>
            <a:ext cx="64922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</a:rPr>
              <a:t>Early access &amp; bonus visibility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57400" y="2267712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Top users: Delfina_VonRueden68, Aurelie71, Jaime53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1463040" cy="685800"/>
          </a:xfrm>
          <a:prstGeom prst="rect">
            <a:avLst/>
          </a:prstGeom>
          <a:solidFill>
            <a:srgbClr val="CD7F32"/>
          </a:solidFill>
          <a:ln w="12700">
            <a:solidFill>
              <a:srgbClr val="CD7F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8803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Bronze Tier  (≥100)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920240" y="2880360"/>
            <a:ext cx="6858000" cy="685800"/>
          </a:xfrm>
          <a:prstGeom prst="rect">
            <a:avLst/>
          </a:prstGeom>
          <a:solidFill>
            <a:srgbClr val="F7F9F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57400" y="2916936"/>
            <a:ext cx="64922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</a:rPr>
              <a:t>Loyalty badge &amp; recognition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057400" y="3227832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Top users: Majority of active users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840480"/>
            <a:ext cx="1463040" cy="6858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8404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Rising Creator  (&lt;100)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920240" y="3840480"/>
            <a:ext cx="6858000" cy="685800"/>
          </a:xfrm>
          <a:prstGeom prst="rect">
            <a:avLst/>
          </a:prstGeom>
          <a:solidFill>
            <a:srgbClr val="F7F9FC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57400" y="3877056"/>
            <a:ext cx="6492240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33333"/>
                </a:solidFill>
              </a:rPr>
              <a:t>Community events &amp; participation incentives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57400" y="4187952"/>
            <a:ext cx="6492240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Top users: New and low-activity users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25400">
            <a:solidFill>
              <a:srgbClr val="DCE6F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</a:rPr>
              <a:t>Ravi Kant Mishra  |  MySQL Workbench  |  ig_clone Database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97D"/>
                </a:solidFill>
              </a:rPr>
              <a:t>Influencer Marketing Candidates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3657600" cy="347472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Username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78224" y="960120"/>
            <a:ext cx="1463040" cy="347472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78224" y="9601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Followers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596128" y="960120"/>
            <a:ext cx="2011680" cy="347472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96128" y="9601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Avg Engagement/Post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307592"/>
            <a:ext cx="3657600" cy="338328"/>
          </a:xfrm>
          <a:prstGeom prst="rect">
            <a:avLst/>
          </a:prstGeom>
          <a:solidFill>
            <a:srgbClr val="F2F7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07592"/>
            <a:ext cx="35112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</a:rPr>
              <a:t>Donald.Fritsch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078224" y="1307592"/>
            <a:ext cx="1463040" cy="338328"/>
          </a:xfrm>
          <a:prstGeom prst="rect">
            <a:avLst/>
          </a:prstGeom>
          <a:solidFill>
            <a:srgbClr val="F2F7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51376" y="1307592"/>
            <a:ext cx="1316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72C4"/>
                </a:solidFill>
              </a:rPr>
              <a:t>77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596128" y="1307592"/>
            <a:ext cx="2011680" cy="338328"/>
          </a:xfrm>
          <a:prstGeom prst="rect">
            <a:avLst/>
          </a:prstGeom>
          <a:solidFill>
            <a:srgbClr val="F2F7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1307592"/>
            <a:ext cx="186537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72C4"/>
                </a:solidFill>
              </a:rPr>
              <a:t>32.67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682496"/>
            <a:ext cx="36576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1682496"/>
            <a:ext cx="35112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</a:rPr>
              <a:t>Aurelie71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078224" y="1682496"/>
            <a:ext cx="14630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51376" y="1682496"/>
            <a:ext cx="1316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72C4"/>
                </a:solidFill>
              </a:rPr>
              <a:t>77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596128" y="1682496"/>
            <a:ext cx="20116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1682496"/>
            <a:ext cx="186537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72C4"/>
                </a:solidFill>
              </a:rPr>
              <a:t>32.63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057400"/>
            <a:ext cx="3657600" cy="338328"/>
          </a:xfrm>
          <a:prstGeom prst="rect">
            <a:avLst/>
          </a:prstGeom>
          <a:solidFill>
            <a:srgbClr val="F2F7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2057400"/>
            <a:ext cx="35112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</a:rPr>
              <a:t>Cesar93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078224" y="2057400"/>
            <a:ext cx="1463040" cy="338328"/>
          </a:xfrm>
          <a:prstGeom prst="rect">
            <a:avLst/>
          </a:prstGeom>
          <a:solidFill>
            <a:srgbClr val="F2F7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51376" y="2057400"/>
            <a:ext cx="1316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72C4"/>
                </a:solidFill>
              </a:rPr>
              <a:t>77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96128" y="2057400"/>
            <a:ext cx="2011680" cy="338328"/>
          </a:xfrm>
          <a:prstGeom prst="rect">
            <a:avLst/>
          </a:prstGeom>
          <a:solidFill>
            <a:srgbClr val="F2F7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2057400"/>
            <a:ext cx="186537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72C4"/>
                </a:solidFill>
              </a:rPr>
              <a:t>32.30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65760" y="2432304"/>
            <a:ext cx="36576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2432304"/>
            <a:ext cx="35112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</a:rPr>
              <a:t>Meggie_Doyle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078224" y="2432304"/>
            <a:ext cx="14630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51376" y="2432304"/>
            <a:ext cx="1316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72C4"/>
                </a:solidFill>
              </a:rPr>
              <a:t>76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596128" y="2432304"/>
            <a:ext cx="20116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0" y="2432304"/>
            <a:ext cx="186537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72C4"/>
                </a:solidFill>
              </a:rPr>
              <a:t>37.50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2807208"/>
            <a:ext cx="3657600" cy="338328"/>
          </a:xfrm>
          <a:prstGeom prst="rect">
            <a:avLst/>
          </a:prstGeom>
          <a:solidFill>
            <a:srgbClr val="F2F7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2807208"/>
            <a:ext cx="35112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</a:rPr>
              <a:t>Jaylan_Lakin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078224" y="2807208"/>
            <a:ext cx="1463040" cy="338328"/>
          </a:xfrm>
          <a:prstGeom prst="rect">
            <a:avLst/>
          </a:prstGeom>
          <a:solidFill>
            <a:srgbClr val="F2F7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51376" y="2807208"/>
            <a:ext cx="1316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72C4"/>
                </a:solidFill>
              </a:rPr>
              <a:t>76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596128" y="2807208"/>
            <a:ext cx="2011680" cy="338328"/>
          </a:xfrm>
          <a:prstGeom prst="rect">
            <a:avLst/>
          </a:prstGeom>
          <a:solidFill>
            <a:srgbClr val="F2F7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0" y="2807208"/>
            <a:ext cx="186537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72C4"/>
                </a:solidFill>
              </a:rPr>
              <a:t>36.50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65760" y="3182112"/>
            <a:ext cx="365760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" y="3182112"/>
            <a:ext cx="35112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</a:rPr>
              <a:t>Janet.Armstrong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078224" y="3182112"/>
            <a:ext cx="146304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51376" y="3182112"/>
            <a:ext cx="1316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72C4"/>
                </a:solidFill>
              </a:rPr>
              <a:t>75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5596128" y="3182112"/>
            <a:ext cx="2011680" cy="3383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69280" y="3182112"/>
            <a:ext cx="186537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72C4"/>
                </a:solidFill>
              </a:rPr>
              <a:t>33.40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365760" y="3557016"/>
            <a:ext cx="3657600" cy="338328"/>
          </a:xfrm>
          <a:prstGeom prst="rect">
            <a:avLst/>
          </a:prstGeom>
          <a:solidFill>
            <a:srgbClr val="F2F7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8912" y="3557016"/>
            <a:ext cx="351129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3333"/>
                </a:solidFill>
              </a:rPr>
              <a:t>Zack_Kemmer93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078224" y="3557016"/>
            <a:ext cx="1463040" cy="338328"/>
          </a:xfrm>
          <a:prstGeom prst="rect">
            <a:avLst/>
          </a:prstGeom>
          <a:solidFill>
            <a:srgbClr val="F2F7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51376" y="3557016"/>
            <a:ext cx="131673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72C4"/>
                </a:solidFill>
              </a:rPr>
              <a:t>74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596128" y="3557016"/>
            <a:ext cx="2011680" cy="338328"/>
          </a:xfrm>
          <a:prstGeom prst="rect">
            <a:avLst/>
          </a:prstGeom>
          <a:solidFill>
            <a:srgbClr val="F2F7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69280" y="3557016"/>
            <a:ext cx="1865376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472C4"/>
                </a:solidFill>
              </a:rPr>
              <a:t>33.30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65760" y="4069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66666"/>
                </a:solidFill>
              </a:rPr>
              <a:t>Note: High follower count alone does not guarantee engagement. Avg engagement/post is the primary selection criterion.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25400">
            <a:solidFill>
              <a:srgbClr val="DCE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</a:rPr>
              <a:t>Ravi Kant Mishra  |  MySQL Workbench  |  ig_clone Database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97D"/>
                </a:solidFill>
              </a:rPr>
              <a:t>User Segmentation for Targeted Marketing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2148840" cy="32004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Segment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06040" y="960120"/>
            <a:ext cx="2697480" cy="32004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06040" y="96012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Criteria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94960" y="960120"/>
            <a:ext cx="3429000" cy="320040"/>
          </a:xfrm>
          <a:prstGeom prst="rect">
            <a:avLst/>
          </a:prstGeom>
          <a:solidFill>
            <a:srgbClr val="1F497D"/>
          </a:solidFill>
          <a:ln w="12700">
            <a:solidFill>
              <a:srgbClr val="1F49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0" y="96012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Strategy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280160"/>
            <a:ext cx="128016" cy="56692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3776" y="1280160"/>
            <a:ext cx="2020824" cy="566928"/>
          </a:xfrm>
          <a:prstGeom prst="rect">
            <a:avLst/>
          </a:prstGeom>
          <a:solidFill>
            <a:srgbClr val="F2F7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316736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High Value Users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06040" y="1280160"/>
            <a:ext cx="2697480" cy="566928"/>
          </a:xfrm>
          <a:prstGeom prst="rect">
            <a:avLst/>
          </a:prstGeom>
          <a:solidFill>
            <a:srgbClr val="F2F7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9192" y="128016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5+ posts, ≥35 avg engagement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94960" y="1280160"/>
            <a:ext cx="3429000" cy="566928"/>
          </a:xfrm>
          <a:prstGeom prst="rect">
            <a:avLst/>
          </a:prstGeom>
          <a:solidFill>
            <a:srgbClr val="F2F7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68112" y="1280160"/>
            <a:ext cx="3273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Premium campaigns, influencer partnerships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1965960"/>
            <a:ext cx="128016" cy="566928"/>
          </a:xfrm>
          <a:prstGeom prst="rect">
            <a:avLst/>
          </a:prstGeom>
          <a:solidFill>
            <a:srgbClr val="70AD47"/>
          </a:solidFill>
          <a:ln w="12700">
            <a:solidFill>
              <a:srgbClr val="70AD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3776" y="1965960"/>
            <a:ext cx="2020824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002536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Highly Engaged New Creators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606040" y="1965960"/>
            <a:ext cx="2697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79192" y="196596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&lt;5 posts, ≥35 avg engagement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94960" y="1965960"/>
            <a:ext cx="3429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68112" y="1965960"/>
            <a:ext cx="3273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Visibility boosts, featured placements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2651760"/>
            <a:ext cx="128016" cy="566928"/>
          </a:xfrm>
          <a:prstGeom prst="rect">
            <a:avLst/>
          </a:prstGeom>
          <a:solidFill>
            <a:srgbClr val="ED7D31"/>
          </a:solidFill>
          <a:ln w="12700">
            <a:solidFill>
              <a:srgbClr val="ED7D3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" y="2651760"/>
            <a:ext cx="2020824" cy="566928"/>
          </a:xfrm>
          <a:prstGeom prst="rect">
            <a:avLst/>
          </a:prstGeom>
          <a:solidFill>
            <a:srgbClr val="F2F7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688336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Active Moderate Engagement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606040" y="2651760"/>
            <a:ext cx="2697480" cy="566928"/>
          </a:xfrm>
          <a:prstGeom prst="rect">
            <a:avLst/>
          </a:prstGeom>
          <a:solidFill>
            <a:srgbClr val="F2F7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79192" y="265176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5+ posts, 25–35 engagement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394960" y="2651760"/>
            <a:ext cx="3429000" cy="566928"/>
          </a:xfrm>
          <a:prstGeom prst="rect">
            <a:avLst/>
          </a:prstGeom>
          <a:solidFill>
            <a:srgbClr val="F2F7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68112" y="2651760"/>
            <a:ext cx="3273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Gamification, milestone rewards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337560"/>
            <a:ext cx="128016" cy="566928"/>
          </a:xfrm>
          <a:prstGeom prst="rect">
            <a:avLst/>
          </a:prstGeom>
          <a:solidFill>
            <a:srgbClr val="FFC000"/>
          </a:solidFill>
          <a:ln w="12700">
            <a:solidFill>
              <a:srgbClr val="FFC0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3776" y="3337560"/>
            <a:ext cx="2020824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374136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Low Engagement Users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606040" y="3337560"/>
            <a:ext cx="2697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79192" y="333756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Posting but &lt;25 engagement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394960" y="3337560"/>
            <a:ext cx="342900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68112" y="3337560"/>
            <a:ext cx="3273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Content quality coaching, analytics support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4023360"/>
            <a:ext cx="128016" cy="566928"/>
          </a:xfrm>
          <a:prstGeom prst="rect">
            <a:avLst/>
          </a:prstGeom>
          <a:solidFill>
            <a:srgbClr val="808080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3776" y="4023360"/>
            <a:ext cx="2020824" cy="566928"/>
          </a:xfrm>
          <a:prstGeom prst="rect">
            <a:avLst/>
          </a:prstGeom>
          <a:solidFill>
            <a:srgbClr val="F2F7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059936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3333"/>
                </a:solidFill>
              </a:rPr>
              <a:t>Inactive Users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606040" y="4023360"/>
            <a:ext cx="2697480" cy="566928"/>
          </a:xfrm>
          <a:prstGeom prst="rect">
            <a:avLst/>
          </a:prstGeom>
          <a:solidFill>
            <a:srgbClr val="F2F7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79192" y="402336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55555"/>
                </a:solidFill>
              </a:rPr>
              <a:t>No activity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394960" y="4023360"/>
            <a:ext cx="3429000" cy="566928"/>
          </a:xfrm>
          <a:prstGeom prst="rect">
            <a:avLst/>
          </a:prstGeom>
          <a:solidFill>
            <a:srgbClr val="F2F7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68112" y="4023360"/>
            <a:ext cx="3273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6-step re-engagement funnel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25400">
            <a:solidFill>
              <a:srgbClr val="DCE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</a:rPr>
              <a:t>Ravi Kant Mishra  |  MySQL Workbench  |  ig_clone Database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97D"/>
                </a:solidFill>
              </a:rPr>
              <a:t>Recommendations for Inactive Users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</a:rPr>
              <a:t>Inactive users represent the largest segment of the user base (13 users), indicating a significant opportunity for re-engagement.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8412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•  Send personalized notifications based on past activity and interests.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•  Introduce limited-time incentives such as bonus visibility or badges.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•  Use email or in-app reminders highlighting trending content and creators.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•  Encourage low-effort interactions like polls, reactions, or story replies.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•  Re-onboard inactive users with feature walkthroughs and content suggestions.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•  Track reactivation success with follow-up SQL queries on activity changes.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25400">
            <a:solidFill>
              <a:srgbClr val="DCE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</a:rPr>
              <a:t>Ravi Kant Mishra  |  MySQL Workbench  |  ig_clone Database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97D"/>
                </a:solidFill>
              </a:rPr>
              <a:t>Content and Platform Optimization Strategy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</a:rPr>
              <a:t>Overall engagement analysis shows that content quality and meaningful interactions drive user engagement more than posting frequency alone.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463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</a:rPr>
              <a:t>Key Focus Areas: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810512"/>
            <a:ext cx="8412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•  Promote content that generates higher comments and discussions.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•  Support engaged creators through visibility boosts and rewards.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•  Encourage content quality over posting frequency.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•  Leverage user segmentation to deliver targeted content and ads.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•  Use top-performing hashtags: delicious, food, sunset, beauty, dreamy.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•  Continuously optimize strategies using data-driven insights from SQL analysis.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25400">
            <a:solidFill>
              <a:srgbClr val="DCE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</a:rPr>
              <a:t>Ravi Kant Mishra  |  MySQL Workbench  |  ig_clone Database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97D"/>
                </a:solidFill>
              </a:rPr>
              <a:t>Business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•  Reward high-value users (Gold/Silver/Bronze tiers) to improve retention and loyalty.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•  Collaborate with highly engaged users for influencer marketing campaigns.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•  Focus on content quality over posting frequency for better engagement.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•  Re-engage inactive users through personalized and incentive-based campaigns.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•  Use user segmentation for targeted and effective marketing strategies.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•  Align ad campaigns with top hashtag themes: food, lifestyle, visual aesthetics.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•  Design campaigns that drive comments rather than passive likes.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25400">
            <a:solidFill>
              <a:srgbClr val="DCE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</a:rPr>
              <a:t>Ravi Kant Mishra  |  MySQL Workbench  |  ig_clone Database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E6F1"/>
          </a:solidFill>
          <a:ln w="12700">
            <a:solidFill>
              <a:srgbClr val="DCE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497D"/>
                </a:solidFill>
              </a:rPr>
              <a:t>Conclusion &amp; Key Takeaways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00" cy="0"/>
          </a:xfrm>
          <a:prstGeom prst="line">
            <a:avLst/>
          </a:prstGeom>
          <a:noFill/>
          <a:ln w="25400">
            <a:solidFill>
              <a:srgbClr val="4472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333333"/>
                </a:solidFill>
              </a:rPr>
              <a:t>The analysis of the ig_clone Instagram database demonstrates how SQL can extract meaningful insights from social media data to drive data-driven marketing decisions.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497D"/>
                </a:solidFill>
              </a:rPr>
              <a:t>Key Takeaways: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847088"/>
            <a:ext cx="841248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•  77% of users are highly active — the platform has a strong engaged core.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•  Comments are the primary engagement driver — more impactful than likes.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•  Content quality matters more than posting frequency.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•  Influencer campaigns should prioritize engagement rate, not just follower count.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•  User segmentation enables targeted marketing that improves retention and acquisition.</a:t>
            </a:r>
            <a:endParaRPr lang="en-US" sz="14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400" dirty="0">
                <a:solidFill>
                  <a:srgbClr val="333333"/>
                </a:solidFill>
              </a:rPr>
              <a:t>•  Data-driven insights can optimize influencer marketing, content, and retention strategies.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92040"/>
            <a:ext cx="9144000" cy="0"/>
          </a:xfrm>
          <a:prstGeom prst="line">
            <a:avLst/>
          </a:prstGeom>
          <a:noFill/>
          <a:ln w="25400">
            <a:solidFill>
              <a:srgbClr val="DCE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</a:rPr>
              <a:t>Ravi Kant Mishra  |  MySQL Workbench  |  ig_clone Database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1709</Words>
  <Application>Microsoft Office PowerPoint</Application>
  <PresentationFormat>On-screen Show (16:9)</PresentationFormat>
  <Paragraphs>292</Paragraphs>
  <Slides>18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Ravi Kant Mishra</cp:lastModifiedBy>
  <cp:revision>3</cp:revision>
  <dcterms:created xsi:type="dcterms:W3CDTF">2026-02-28T18:42:14Z</dcterms:created>
  <dcterms:modified xsi:type="dcterms:W3CDTF">2026-03-05T15:13:53Z</dcterms:modified>
</cp:coreProperties>
</file>